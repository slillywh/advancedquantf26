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2" r:id="rId3"/>
    <p:sldId id="263" r:id="rId4"/>
    <p:sldId id="264" r:id="rId5"/>
    <p:sldId id="266" r:id="rId6"/>
    <p:sldId id="267" r:id="rId7"/>
    <p:sldId id="269" r:id="rId8"/>
    <p:sldId id="268" r:id="rId9"/>
    <p:sldId id="271" r:id="rId10"/>
    <p:sldId id="259" r:id="rId11"/>
    <p:sldId id="272" r:id="rId12"/>
    <p:sldId id="257" r:id="rId13"/>
    <p:sldId id="273" r:id="rId14"/>
    <p:sldId id="270" r:id="rId15"/>
    <p:sldId id="278" r:id="rId16"/>
    <p:sldId id="274" r:id="rId17"/>
    <p:sldId id="258" r:id="rId18"/>
    <p:sldId id="276" r:id="rId19"/>
    <p:sldId id="275" r:id="rId20"/>
    <p:sldId id="277" r:id="rId21"/>
    <p:sldId id="279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E00"/>
    <a:srgbClr val="F8766D"/>
    <a:srgbClr val="C77CFF"/>
    <a:srgbClr val="00B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032" autoAdjust="0"/>
  </p:normalViewPr>
  <p:slideViewPr>
    <p:cSldViewPr snapToGrid="0">
      <p:cViewPr varScale="1">
        <p:scale>
          <a:sx n="61" d="100"/>
          <a:sy n="61" d="100"/>
        </p:scale>
        <p:origin x="144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605CC3-0145-4988-BFA3-7A0B3DF13CE7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FB795-B341-4173-B4C4-E0858701E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4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FB53-31F9-401D-BA64-9296281B97B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6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FB53-31F9-401D-BA64-9296281B97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46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FB53-31F9-401D-BA64-9296281B97B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3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1FFB53-31F9-401D-BA64-9296281B97B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29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ANOVA showed there was a significant effect of bed stability on PPFD f</a:t>
            </a:r>
            <a:r>
              <a:rPr lang="en-US" baseline="-25000" dirty="0"/>
              <a:t>1,6</a:t>
            </a:r>
            <a:r>
              <a:rPr lang="en-US" baseline="0" dirty="0"/>
              <a:t>=19.08, p-</a:t>
            </a:r>
            <a:r>
              <a:rPr lang="en-US" baseline="0" dirty="0" err="1"/>
              <a:t>val</a:t>
            </a:r>
            <a:r>
              <a:rPr lang="en-US" baseline="0" dirty="0"/>
              <a:t> &lt; 0.001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B795-B341-4173-B4C4-E0858701E6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01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PPFD significantly predicted bed stability, with more minor improvements to </a:t>
            </a:r>
            <a:r>
              <a:rPr lang="en-US"/>
              <a:t>the logistic </a:t>
            </a:r>
            <a:r>
              <a:rPr lang="en-US" dirty="0"/>
              <a:t>regression model by adding Dissolved Oxygen (mg/L) and corrected concentration of CHLA (µg/L)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B795-B341-4173-B4C4-E0858701E6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9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CHLA was a significant predictor of PPFD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B795-B341-4173-B4C4-E0858701E6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66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variables contributing the most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B795-B341-4173-B4C4-E0858701E6D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78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7FB795-B341-4173-B4C4-E0858701E6D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8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9071-C16B-4E3B-BB13-C284AA88B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1CB99-36F8-4CAE-9100-5F636EB72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09720-A96E-4071-8DD6-54BBBC59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0AC80-14A8-4021-81E5-C5993F36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63403-D76A-47BF-8286-D817DD0C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1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64BD-7F34-4DAA-8786-74504CFF9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2BC3-3AE8-4841-BED3-19774310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98215-2908-4A53-A5A3-EB90806C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2AEB-878C-493C-B5B5-23A6DED6F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F1BF-449B-4B63-835C-8B7E06C6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8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1CC0-CB71-46C3-A343-8D07C9C18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A2D09-49F7-4DAE-B82B-7DAEB954C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B550-03E9-4311-B39C-81ED875A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3D96-CB70-4483-B74F-2E88D2EC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EE5FA-3376-4400-B851-E07672D0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7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8D45-CB2E-438A-A07E-08DC4AA1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EC2C7-11AA-4B7F-935F-876A4056B2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749AD-CEE8-4C39-B81A-7BAD995B2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CD894-ACB6-4935-AED3-D309AC039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A099C-5427-4B18-84C8-B589A9D9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92E2A-CEAB-448F-901A-E244C6ACF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4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3782-738A-416F-A16A-A378030F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16BB1-62FB-4E82-9854-56598B119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E516-E12D-432D-A92C-3840231CD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28FBD-D7FF-46A1-8C26-7FE00CC04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C72D9-8CDB-4F63-9027-9373272AA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EE2E15-CC84-43B4-9CDA-2B5F0019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11D22-88A1-4235-850B-C17837C6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009F7-03FA-4ED0-91ED-ED1103DF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6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CCB2-D1C5-4442-8A2B-1BF24763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418E5-F4FE-4D2D-A0FB-0A378A48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AC794-3657-4B2C-B428-7A801CB5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1E847-8728-4349-8DC8-183543D4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9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71594-3CEA-485A-8354-39B33766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305CE-27B3-41F0-9659-9AE245D2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E55E8-DEBC-4B8A-B4C2-C0F3FC88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59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470E-3D1A-4BD6-8DA7-F8141DE70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87D04-D2B5-4013-A98A-55B16A625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476B9-28DF-49DF-85A9-BBDF8134A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101B8-1B1E-40D1-8E2E-FD16E65B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52051-F720-40E3-9825-55EC0D0A3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6715A-0A1D-4DBE-A14F-B31645E5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3CD5-D150-42D8-9D0A-7BE71C1F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FE504-F8FC-4A3E-811E-D08F3D42D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4E98B-D17E-46E8-B4E9-8C6797642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EB083-5C94-4091-900E-EB044E55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BF244-17DC-409F-B117-82823726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369EB-38FB-46D2-A05D-B45DA2B1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4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F8D7-DCA6-4693-B596-83DD4504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A2225-DA45-494B-90F4-877256D8D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5F9A4-6C59-4929-A67A-6EC1567E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4A68-FA71-4FE3-A64B-913EAA879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84616-E7A2-41A1-8D45-35EB17466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1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796A7-8ECB-4866-BF34-93FFE68A5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6D002-6524-4C4E-AF29-C8BB6952E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F0BB7-81C0-4675-BF4E-D716F733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EA7D3-1B5B-4BA8-B659-DFAE878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8D924-000F-462A-88F3-F38247B9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4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812EF-939F-4F24-8AB7-AC04CF9B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C4F5A-2D54-4104-AF53-E2A825903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A75FE-2118-412A-B6C6-C315C5FF6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CD6B8-7DA7-4F03-98B4-F517D282179E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128C-D31E-4B86-8144-9DFF3D323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79936-DA65-4985-9602-E2A30D54B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D83D5-B702-413D-AA18-F4045EBEF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5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638C-0EBE-4334-AABD-9486F56BEC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Focal Presentation:</a:t>
            </a:r>
            <a:br>
              <a:rPr lang="en-US" dirty="0"/>
            </a:br>
            <a:r>
              <a:rPr lang="en-US" sz="4800" dirty="0"/>
              <a:t>Newport Bay Water Quality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8E55C-55DE-4A1B-B207-18EA0585B6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Matthew L. Walsh</a:t>
            </a:r>
          </a:p>
        </p:txBody>
      </p:sp>
    </p:spTree>
    <p:extLst>
      <p:ext uri="{BB962C8B-B14F-4D97-AF65-F5344CB8AC3E}">
        <p14:creationId xmlns:p14="http://schemas.microsoft.com/office/powerpoint/2010/main" val="114035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2841-DE95-481A-A352-08FA75506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899756" cy="1325563"/>
          </a:xfrm>
        </p:spPr>
        <p:txBody>
          <a:bodyPr/>
          <a:lstStyle/>
          <a:p>
            <a:r>
              <a:rPr lang="en-US" dirty="0"/>
              <a:t>Eelgrass</a:t>
            </a:r>
            <a:endParaRPr lang="en-US" i="1" dirty="0"/>
          </a:p>
        </p:txBody>
      </p:sp>
      <p:pic>
        <p:nvPicPr>
          <p:cNvPr id="5" name="Content Placeholder 4" descr="A close-up of some grass&#10;&#10;Description automatically generated with medium confidence">
            <a:extLst>
              <a:ext uri="{FF2B5EF4-FFF2-40B4-BE49-F238E27FC236}">
                <a16:creationId xmlns:a16="http://schemas.microsoft.com/office/drawing/2014/main" id="{A3DDA87D-88B6-4C08-A92D-1A68B9B32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5" y="1690688"/>
            <a:ext cx="5720575" cy="4290432"/>
          </a:xfrm>
        </p:spPr>
      </p:pic>
      <p:pic>
        <p:nvPicPr>
          <p:cNvPr id="7" name="Picture 6" descr="A close-up of some grass&#10;&#10;Description automatically generated with medium confidence">
            <a:extLst>
              <a:ext uri="{FF2B5EF4-FFF2-40B4-BE49-F238E27FC236}">
                <a16:creationId xmlns:a16="http://schemas.microsoft.com/office/drawing/2014/main" id="{D4E73811-53A3-448A-858A-B9410F7E6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4927" y="1690688"/>
            <a:ext cx="6210838" cy="42904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142B29-6F54-4568-987F-8140CFA82345}"/>
              </a:ext>
            </a:extLst>
          </p:cNvPr>
          <p:cNvSpPr txBox="1"/>
          <p:nvPr/>
        </p:nvSpPr>
        <p:spPr>
          <a:xfrm>
            <a:off x="4295800" y="188640"/>
            <a:ext cx="486054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Image source</a:t>
            </a:r>
          </a:p>
          <a:p>
            <a:r>
              <a:rPr lang="en-US" dirty="0"/>
              <a:t>First Newport Bay Eelgrass Mapping Survey (2005)</a:t>
            </a:r>
          </a:p>
        </p:txBody>
      </p:sp>
      <p:pic>
        <p:nvPicPr>
          <p:cNvPr id="6" name="Picture 5" descr="A picture containing outdoor, grass, several, ocean floor&#10;&#10;Description automatically generated">
            <a:extLst>
              <a:ext uri="{FF2B5EF4-FFF2-40B4-BE49-F238E27FC236}">
                <a16:creationId xmlns:a16="http://schemas.microsoft.com/office/drawing/2014/main" id="{BE631424-9F58-4060-BC4A-38B48F3ADB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927" y="2000250"/>
            <a:ext cx="3810000" cy="285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22EE1D-9EC2-4C7A-A43B-0A408BBC61DC}"/>
              </a:ext>
            </a:extLst>
          </p:cNvPr>
          <p:cNvSpPr txBox="1"/>
          <p:nvPr/>
        </p:nvSpPr>
        <p:spPr>
          <a:xfrm>
            <a:off x="4295800" y="188640"/>
            <a:ext cx="486054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Image source</a:t>
            </a:r>
          </a:p>
          <a:p>
            <a:r>
              <a:rPr lang="en-US" dirty="0"/>
              <a:t>First Newport Bay Eelgrass Mapping Survey (2005)</a:t>
            </a:r>
          </a:p>
          <a:p>
            <a:r>
              <a:rPr lang="en-US" dirty="0"/>
              <a:t>PBS Nature S23 EP2</a:t>
            </a:r>
          </a:p>
        </p:txBody>
      </p:sp>
    </p:spTree>
    <p:extLst>
      <p:ext uri="{BB962C8B-B14F-4D97-AF65-F5344CB8AC3E}">
        <p14:creationId xmlns:p14="http://schemas.microsoft.com/office/powerpoint/2010/main" val="248321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C3A28-62CE-4F0D-B924-772C108E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3" y="-11433"/>
            <a:ext cx="4497001" cy="1325563"/>
          </a:xfrm>
        </p:spPr>
        <p:txBody>
          <a:bodyPr/>
          <a:lstStyle/>
          <a:p>
            <a:r>
              <a:rPr lang="en-US" dirty="0"/>
              <a:t>Critical Habitat Role</a:t>
            </a:r>
          </a:p>
        </p:txBody>
      </p:sp>
      <p:pic>
        <p:nvPicPr>
          <p:cNvPr id="5" name="Content Placeholder 4" descr="A fish swimming in water&#10;&#10;Description automatically generated with low confidence">
            <a:extLst>
              <a:ext uri="{FF2B5EF4-FFF2-40B4-BE49-F238E27FC236}">
                <a16:creationId xmlns:a16="http://schemas.microsoft.com/office/drawing/2014/main" id="{BA5FBBD5-31F4-496C-93C2-39455F871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169" y="1354854"/>
            <a:ext cx="4497001" cy="2565362"/>
          </a:xfrm>
          <a:ln w="19050">
            <a:solidFill>
              <a:schemeClr val="bg1">
                <a:lumMod val="65000"/>
              </a:schemeClr>
            </a:solidFill>
          </a:ln>
        </p:spPr>
      </p:pic>
      <p:pic>
        <p:nvPicPr>
          <p:cNvPr id="4" name="Picture 3" descr="A picture containing plant, salamander, meal&#10;&#10;Description automatically generated">
            <a:extLst>
              <a:ext uri="{FF2B5EF4-FFF2-40B4-BE49-F238E27FC236}">
                <a16:creationId xmlns:a16="http://schemas.microsoft.com/office/drawing/2014/main" id="{D1BC410C-360B-4FE4-BEC1-CCD56AFA5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393" y="4001663"/>
            <a:ext cx="3627215" cy="2720411"/>
          </a:xfrm>
          <a:prstGeom prst="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</p:pic>
      <p:pic>
        <p:nvPicPr>
          <p:cNvPr id="7" name="Picture 6" descr="A picture containing grass, green&#10;&#10;Description automatically generated">
            <a:extLst>
              <a:ext uri="{FF2B5EF4-FFF2-40B4-BE49-F238E27FC236}">
                <a16:creationId xmlns:a16="http://schemas.microsoft.com/office/drawing/2014/main" id="{5B854F4C-6946-4F44-9265-97081F89B4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596" y="4001663"/>
            <a:ext cx="3627215" cy="2720411"/>
          </a:xfrm>
          <a:prstGeom prst="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</p:pic>
      <p:pic>
        <p:nvPicPr>
          <p:cNvPr id="9" name="Picture 8" descr="A caterpillar on a leaf&#10;&#10;Description automatically generated">
            <a:extLst>
              <a:ext uri="{FF2B5EF4-FFF2-40B4-BE49-F238E27FC236}">
                <a16:creationId xmlns:a16="http://schemas.microsoft.com/office/drawing/2014/main" id="{16E770A3-7FAF-4AD3-927A-00482A1FB2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39" y="4001663"/>
            <a:ext cx="3627215" cy="2720412"/>
          </a:xfrm>
          <a:prstGeom prst="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Picture 10" descr="Close-up of a leaf&#10;&#10;Description automatically generated with low confidence">
            <a:extLst>
              <a:ext uri="{FF2B5EF4-FFF2-40B4-BE49-F238E27FC236}">
                <a16:creationId xmlns:a16="http://schemas.microsoft.com/office/drawing/2014/main" id="{E1A553BA-1243-4ADF-B142-F6DC019B46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10" y="1354855"/>
            <a:ext cx="3149874" cy="2565362"/>
          </a:xfrm>
          <a:prstGeom prst="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</p:pic>
      <p:pic>
        <p:nvPicPr>
          <p:cNvPr id="13" name="Picture 12" descr="A group of fish swimming in water&#10;&#10;Description automatically generated with medium confidence">
            <a:extLst>
              <a:ext uri="{FF2B5EF4-FFF2-40B4-BE49-F238E27FC236}">
                <a16:creationId xmlns:a16="http://schemas.microsoft.com/office/drawing/2014/main" id="{79EAA9FD-512E-43EA-AE3E-425E711A396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825" y="1354854"/>
            <a:ext cx="3414783" cy="2565362"/>
          </a:xfrm>
          <a:prstGeom prst="rect">
            <a:avLst/>
          </a:prstGeom>
          <a:ln w="19050">
            <a:solidFill>
              <a:schemeClr val="bg1">
                <a:lumMod val="65000"/>
              </a:schemeClr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BBCBEA-0FC1-4EAB-BF4E-51C6C0BD242E}"/>
              </a:ext>
            </a:extLst>
          </p:cNvPr>
          <p:cNvSpPr txBox="1"/>
          <p:nvPr/>
        </p:nvSpPr>
        <p:spPr>
          <a:xfrm>
            <a:off x="4302388" y="189683"/>
            <a:ext cx="5387573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Image Source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Fifth Newport Bay Eelgrass Mapping Survey (2016)</a:t>
            </a:r>
          </a:p>
          <a:p>
            <a:pPr marL="400050" indent="-400050">
              <a:buFont typeface="+mj-lt"/>
              <a:buAutoNum type="romanLcPeriod"/>
            </a:pPr>
            <a:r>
              <a:rPr lang="en-US" dirty="0"/>
              <a:t>Sixth Newport Bay Eelgrass Mapping Survey (2018)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659926-5969-4C6A-854B-3F1EEC4139B6}"/>
              </a:ext>
            </a:extLst>
          </p:cNvPr>
          <p:cNvSpPr txBox="1"/>
          <p:nvPr/>
        </p:nvSpPr>
        <p:spPr>
          <a:xfrm>
            <a:off x="11507500" y="640444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6635B-D538-4799-80AD-2B85AF7C5603}"/>
              </a:ext>
            </a:extLst>
          </p:cNvPr>
          <p:cNvSpPr txBox="1"/>
          <p:nvPr/>
        </p:nvSpPr>
        <p:spPr>
          <a:xfrm>
            <a:off x="7934896" y="3550884"/>
            <a:ext cx="295274" cy="369332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4779A-1DBD-4D15-BD8E-0B569F087CB3}"/>
              </a:ext>
            </a:extLst>
          </p:cNvPr>
          <p:cNvSpPr txBox="1"/>
          <p:nvPr/>
        </p:nvSpPr>
        <p:spPr>
          <a:xfrm>
            <a:off x="7615853" y="639522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E34FA0-7A53-4857-8575-0CF8547E71DD}"/>
              </a:ext>
            </a:extLst>
          </p:cNvPr>
          <p:cNvSpPr txBox="1"/>
          <p:nvPr/>
        </p:nvSpPr>
        <p:spPr>
          <a:xfrm>
            <a:off x="3696045" y="6395225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EAFA5C-77EB-49C3-A0D1-605024CB545A}"/>
              </a:ext>
            </a:extLst>
          </p:cNvPr>
          <p:cNvSpPr txBox="1"/>
          <p:nvPr/>
        </p:nvSpPr>
        <p:spPr>
          <a:xfrm>
            <a:off x="11510880" y="355088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ii.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3E8455-12D1-41FE-A3E2-33A119F66EAD}"/>
              </a:ext>
            </a:extLst>
          </p:cNvPr>
          <p:cNvSpPr txBox="1"/>
          <p:nvPr/>
        </p:nvSpPr>
        <p:spPr>
          <a:xfrm>
            <a:off x="3176812" y="3550884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ii.</a:t>
            </a:r>
          </a:p>
        </p:txBody>
      </p:sp>
    </p:spTree>
    <p:extLst>
      <p:ext uri="{BB962C8B-B14F-4D97-AF65-F5344CB8AC3E}">
        <p14:creationId xmlns:p14="http://schemas.microsoft.com/office/powerpoint/2010/main" val="4140696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A59C-1BC2-4BA4-BD44-A8B9CB3D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079776" cy="1325563"/>
          </a:xfrm>
        </p:spPr>
        <p:txBody>
          <a:bodyPr/>
          <a:lstStyle/>
          <a:p>
            <a:r>
              <a:rPr lang="en-US" dirty="0"/>
              <a:t>Light Limited Growth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543DD6C-D740-471F-98E5-0D726EEE7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4077"/>
            <a:ext cx="10515600" cy="4174434"/>
          </a:xfrm>
          <a:ln w="190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23E925-2E3B-4E08-AAF7-B6ED225BE8BE}"/>
              </a:ext>
            </a:extLst>
          </p:cNvPr>
          <p:cNvSpPr txBox="1"/>
          <p:nvPr/>
        </p:nvSpPr>
        <p:spPr>
          <a:xfrm>
            <a:off x="4295800" y="188640"/>
            <a:ext cx="504056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Image source</a:t>
            </a:r>
          </a:p>
          <a:p>
            <a:r>
              <a:rPr lang="en-US" dirty="0"/>
              <a:t>Dennison et al. (1993). Assessing Water Quality with Submersed Aquatic Vegetation.</a:t>
            </a:r>
          </a:p>
        </p:txBody>
      </p:sp>
    </p:spTree>
    <p:extLst>
      <p:ext uri="{BB962C8B-B14F-4D97-AF65-F5344CB8AC3E}">
        <p14:creationId xmlns:p14="http://schemas.microsoft.com/office/powerpoint/2010/main" val="268556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D154F5-EB8D-4D62-9EA4-EBF619B42200}"/>
              </a:ext>
            </a:extLst>
          </p:cNvPr>
          <p:cNvSpPr txBox="1"/>
          <p:nvPr/>
        </p:nvSpPr>
        <p:spPr>
          <a:xfrm>
            <a:off x="11324" y="0"/>
            <a:ext cx="6732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Project Outline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C62DEC-B979-40AC-AFCB-8DA85F56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64" y="804266"/>
            <a:ext cx="12192000" cy="605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100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BE4D8B9-FE7C-45C6-935C-5E620CA8A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6" y="0"/>
            <a:ext cx="11049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3054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938B74C-C96A-4DCA-908C-BBC0E81B8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28" y="0"/>
            <a:ext cx="75425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27013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5F95AC-085F-4479-B8C5-6F010FA50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55" y="0"/>
            <a:ext cx="9849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8040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01E1-9630-4CF7-8FB2-BBD83BF85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there an association between light availability and eelgrass bed stability across sample sites?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3040-5DE0-46C9-949D-884963926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Randomized Block ANOVA</a:t>
            </a:r>
          </a:p>
        </p:txBody>
      </p:sp>
    </p:spTree>
    <p:extLst>
      <p:ext uri="{BB962C8B-B14F-4D97-AF65-F5344CB8AC3E}">
        <p14:creationId xmlns:p14="http://schemas.microsoft.com/office/powerpoint/2010/main" val="1531018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3A23-D934-4A4D-B248-EA6A767F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91C7EA2B-3862-4A07-A450-FEC5FBC33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5785"/>
            <a:ext cx="5801783" cy="4351338"/>
          </a:xfrm>
        </p:spPr>
      </p:pic>
      <p:pic>
        <p:nvPicPr>
          <p:cNvPr id="4" name="Picture 3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0138C4CC-A147-43B3-8264-C9A826774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225" y="329565"/>
            <a:ext cx="6216969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91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C37D-A7A3-4A26-9E10-0F3BCA1DF0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environmental variables are significant predicters of bed stability across within lower Newport Bay?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D65B3A-595A-4281-9C27-DB730BFB7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/>
              <a:t>Multiple Logistic </a:t>
            </a:r>
            <a:r>
              <a:rPr lang="en-US" i="1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768560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49FA-D4B9-4197-8841-DEFC693C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28C0243-C328-4DBA-8EA0-C5C05EFD3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866" y="0"/>
            <a:ext cx="10862233" cy="2361051"/>
          </a:xfrm>
          <a:prstGeom prst="rect">
            <a:avLst/>
          </a:prstGeom>
        </p:spPr>
      </p:pic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F9F6075C-F53B-4DD7-B4CE-69332C36B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309" y="2285895"/>
            <a:ext cx="8135485" cy="4572638"/>
          </a:xfrm>
          <a:prstGeom prst="rect">
            <a:avLst/>
          </a:prstGeom>
        </p:spPr>
      </p:pic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16E3CE5F-D214-4173-A801-19A5CCA88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2" y="3195597"/>
            <a:ext cx="4170246" cy="3127685"/>
          </a:xfrm>
        </p:spPr>
      </p:pic>
    </p:spTree>
    <p:extLst>
      <p:ext uri="{BB962C8B-B14F-4D97-AF65-F5344CB8AC3E}">
        <p14:creationId xmlns:p14="http://schemas.microsoft.com/office/powerpoint/2010/main" val="241698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A8E2-4263-4806-8554-DC2A2D35C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Chlorophyll-a concentration a significant predictor of light availability?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80B8F-DEAC-4404-B3B5-13FA8F0F03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242499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3428-A1AB-4D42-A9E9-3CFA510A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8096C8E7-1617-4F18-AD4F-046F3E441B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6662"/>
            <a:ext cx="5801783" cy="4351338"/>
          </a:xfrm>
        </p:spPr>
      </p:pic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A72FFD8D-814D-4778-A9AA-97481814A4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929" y="297936"/>
            <a:ext cx="7600071" cy="14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95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C4EF-C63D-4C63-8C75-B084501E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90601"/>
          </a:xfrm>
        </p:spPr>
        <p:txBody>
          <a:bodyPr>
            <a:normAutofit/>
          </a:bodyPr>
          <a:lstStyle/>
          <a:p>
            <a:r>
              <a:rPr lang="en-US" dirty="0"/>
              <a:t>MFA() function usage [</a:t>
            </a:r>
            <a:r>
              <a:rPr lang="en-US" dirty="0" err="1"/>
              <a:t>FactoMineR</a:t>
            </a:r>
            <a:r>
              <a:rPr lang="en-US" dirty="0"/>
              <a:t>]</a:t>
            </a:r>
            <a:br>
              <a:rPr lang="en-US" dirty="0"/>
            </a:br>
            <a:r>
              <a:rPr lang="en-US" sz="3600" dirty="0"/>
              <a:t>type ?</a:t>
            </a:r>
            <a:r>
              <a:rPr lang="en-US" sz="3600" dirty="0" err="1"/>
              <a:t>FactoMineR</a:t>
            </a:r>
            <a:r>
              <a:rPr lang="en-US" sz="3600" dirty="0"/>
              <a:t>::MFA into console for more info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A02A4-5376-4C3D-9C33-0E722E6194FA}"/>
              </a:ext>
            </a:extLst>
          </p:cNvPr>
          <p:cNvSpPr txBox="1"/>
          <p:nvPr/>
        </p:nvSpPr>
        <p:spPr>
          <a:xfrm>
            <a:off x="838200" y="2255615"/>
            <a:ext cx="1051559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base : a data frame with n rows (individuals) and p columns (variables)</a:t>
            </a:r>
          </a:p>
          <a:p>
            <a:r>
              <a:rPr lang="en-US" dirty="0"/>
              <a:t>• group: a vector with the number of variables in each group.</a:t>
            </a:r>
          </a:p>
          <a:p>
            <a:r>
              <a:rPr lang="en-US" dirty="0"/>
              <a:t>• type: the type of variables in each group. By default, all variables are quantitative and scaled to unit variance. Allowed values include:</a:t>
            </a:r>
          </a:p>
          <a:p>
            <a:r>
              <a:rPr lang="en-US" dirty="0"/>
              <a:t>  ○ “c” or “s” for quantitative variables. If “s”, the variables are scaled to unit variance.</a:t>
            </a:r>
          </a:p>
          <a:p>
            <a:r>
              <a:rPr lang="en-US" dirty="0"/>
              <a:t>  ○ “n” for categorical variables.</a:t>
            </a:r>
          </a:p>
          <a:p>
            <a:r>
              <a:rPr lang="en-US" dirty="0"/>
              <a:t>  ○ “f” for frequencies (from a contingency tables).</a:t>
            </a:r>
          </a:p>
          <a:p>
            <a:r>
              <a:rPr lang="en-US" dirty="0"/>
              <a:t>• </a:t>
            </a:r>
            <a:r>
              <a:rPr lang="en-US" dirty="0" err="1"/>
              <a:t>ind.sup</a:t>
            </a:r>
            <a:r>
              <a:rPr lang="en-US" dirty="0"/>
              <a:t>: a vector indicating the indexes of the supplementary individuals.</a:t>
            </a:r>
          </a:p>
          <a:p>
            <a:r>
              <a:rPr lang="en-US" dirty="0"/>
              <a:t>• </a:t>
            </a:r>
            <a:r>
              <a:rPr lang="en-US" dirty="0" err="1"/>
              <a:t>name.group</a:t>
            </a:r>
            <a:r>
              <a:rPr lang="en-US" dirty="0"/>
              <a:t>: a vector containing the name of the groups (by default, NULL and the group are named group.1, group.2 and so on).</a:t>
            </a:r>
          </a:p>
          <a:p>
            <a:r>
              <a:rPr lang="en-US" dirty="0"/>
              <a:t>• </a:t>
            </a:r>
            <a:r>
              <a:rPr lang="en-US" dirty="0" err="1"/>
              <a:t>num.group.sup</a:t>
            </a:r>
            <a:r>
              <a:rPr lang="en-US" dirty="0"/>
              <a:t>: the indexes of the illustrative groups (by default, NULL and no group are illustrative).</a:t>
            </a:r>
          </a:p>
          <a:p>
            <a:r>
              <a:rPr lang="en-US" dirty="0"/>
              <a:t>• graph : a logical value. If TRUE a graph is displayed.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67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0A66-E24F-4DA1-9591-63E1530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12" y="0"/>
            <a:ext cx="10515600" cy="1325563"/>
          </a:xfrm>
        </p:spPr>
        <p:txBody>
          <a:bodyPr/>
          <a:lstStyle/>
          <a:p>
            <a:r>
              <a:rPr lang="en-US" dirty="0"/>
              <a:t>MFA Design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801D48-1DE7-481F-BB09-102A89B2C0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807912"/>
              </p:ext>
            </p:extLst>
          </p:nvPr>
        </p:nvGraphicFramePr>
        <p:xfrm>
          <a:off x="2025973" y="1066886"/>
          <a:ext cx="8135878" cy="2615439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33535">
                  <a:extLst>
                    <a:ext uri="{9D8B030D-6E8A-4147-A177-3AD203B41FA5}">
                      <a16:colId xmlns:a16="http://schemas.microsoft.com/office/drawing/2014/main" val="1660766212"/>
                    </a:ext>
                  </a:extLst>
                </a:gridCol>
                <a:gridCol w="2033535">
                  <a:extLst>
                    <a:ext uri="{9D8B030D-6E8A-4147-A177-3AD203B41FA5}">
                      <a16:colId xmlns:a16="http://schemas.microsoft.com/office/drawing/2014/main" val="1271787119"/>
                    </a:ext>
                  </a:extLst>
                </a:gridCol>
                <a:gridCol w="2034404">
                  <a:extLst>
                    <a:ext uri="{9D8B030D-6E8A-4147-A177-3AD203B41FA5}">
                      <a16:colId xmlns:a16="http://schemas.microsoft.com/office/drawing/2014/main" val="3344893999"/>
                    </a:ext>
                  </a:extLst>
                </a:gridCol>
                <a:gridCol w="2034404">
                  <a:extLst>
                    <a:ext uri="{9D8B030D-6E8A-4147-A177-3AD203B41FA5}">
                      <a16:colId xmlns:a16="http://schemas.microsoft.com/office/drawing/2014/main" val="3318955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Sample Site Constants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F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Sampling Conditions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7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OAC indicators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PPFD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AE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807625"/>
                  </a:ext>
                </a:extLst>
              </a:tr>
              <a:tr h="1231900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</a:rPr>
                        <a:t>Site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</a:rPr>
                        <a:t>Bed Stability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</a:rPr>
                        <a:t>Date &amp; Time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Temp_C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DO_mg.L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</a:rPr>
                        <a:t>DO_%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BottomDepth_ft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PredictedTide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TideChange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Turbidity_NTU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ForelUleColorCategory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 err="1">
                          <a:effectLst/>
                        </a:rPr>
                        <a:t>CalculatedConcentration</a:t>
                      </a:r>
                      <a:r>
                        <a:rPr lang="en-US" sz="1800" dirty="0">
                          <a:effectLst/>
                        </a:rPr>
                        <a:t>_µg/L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effectLst/>
                        </a:rPr>
                        <a:t>PPFD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29381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9E9FC0-7894-40C8-83C0-EB29586FA5F1}"/>
              </a:ext>
            </a:extLst>
          </p:cNvPr>
          <p:cNvSpPr txBox="1"/>
          <p:nvPr/>
        </p:nvSpPr>
        <p:spPr>
          <a:xfrm>
            <a:off x="836112" y="3682325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res.mfa</a:t>
            </a:r>
            <a:r>
              <a:rPr lang="en-US" dirty="0"/>
              <a:t> &lt;- MFA(data, </a:t>
            </a:r>
          </a:p>
          <a:p>
            <a:r>
              <a:rPr lang="en-US" dirty="0"/>
              <a:t>               group = c(2, 7, 3, 1), </a:t>
            </a:r>
            <a:r>
              <a:rPr lang="en-US" dirty="0">
                <a:solidFill>
                  <a:srgbClr val="92D050"/>
                </a:solidFill>
              </a:rPr>
              <a:t># specifies size of groups</a:t>
            </a:r>
          </a:p>
          <a:p>
            <a:r>
              <a:rPr lang="en-US" dirty="0"/>
              <a:t>               type = c(</a:t>
            </a:r>
            <a:r>
              <a:rPr lang="en-US" dirty="0">
                <a:solidFill>
                  <a:srgbClr val="FF0000"/>
                </a:solidFill>
              </a:rPr>
              <a:t>"n"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"s"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"s"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"s"</a:t>
            </a:r>
            <a:r>
              <a:rPr lang="en-US" dirty="0"/>
              <a:t>), </a:t>
            </a:r>
            <a:r>
              <a:rPr lang="en-US" dirty="0">
                <a:solidFill>
                  <a:srgbClr val="92D050"/>
                </a:solidFill>
              </a:rPr>
              <a:t># specifies group data type, 's' creates standardized as opposed to basic quantitative variables and is important if quantitative variables use different units.</a:t>
            </a:r>
          </a:p>
          <a:p>
            <a:r>
              <a:rPr lang="en-US" dirty="0"/>
              <a:t>               </a:t>
            </a:r>
            <a:r>
              <a:rPr lang="en-US" dirty="0" err="1"/>
              <a:t>name.group</a:t>
            </a:r>
            <a:r>
              <a:rPr lang="en-US" dirty="0"/>
              <a:t> = c(</a:t>
            </a:r>
            <a:r>
              <a:rPr lang="en-US" dirty="0">
                <a:solidFill>
                  <a:srgbClr val="FF0000"/>
                </a:solidFill>
              </a:rPr>
              <a:t>"Sample Site Constants"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"Sampling Conditions"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"OAC Indicators"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"PPFD"</a:t>
            </a:r>
            <a:r>
              <a:rPr lang="en-US" dirty="0"/>
              <a:t>), </a:t>
            </a:r>
            <a:r>
              <a:rPr lang="en-US" dirty="0">
                <a:solidFill>
                  <a:srgbClr val="92D050"/>
                </a:solidFill>
              </a:rPr>
              <a:t># assigns names for groupings</a:t>
            </a:r>
          </a:p>
          <a:p>
            <a:r>
              <a:rPr lang="en-US" dirty="0"/>
              <a:t>               </a:t>
            </a:r>
            <a:r>
              <a:rPr lang="en-US" dirty="0" err="1"/>
              <a:t>num.group.sup</a:t>
            </a:r>
            <a:r>
              <a:rPr lang="en-US" dirty="0"/>
              <a:t> = c(1, 4), </a:t>
            </a:r>
            <a:r>
              <a:rPr lang="en-US" dirty="0">
                <a:solidFill>
                  <a:srgbClr val="92D050"/>
                </a:solidFill>
              </a:rPr>
              <a:t># specifies which groups are supplementary</a:t>
            </a:r>
          </a:p>
          <a:p>
            <a:r>
              <a:rPr lang="en-US" dirty="0"/>
              <a:t>               graph = FALSE </a:t>
            </a:r>
            <a:r>
              <a:rPr lang="en-US" dirty="0">
                <a:solidFill>
                  <a:srgbClr val="92D050"/>
                </a:solidFill>
              </a:rPr>
              <a:t># binary deciding if a graph is produced</a:t>
            </a:r>
          </a:p>
          <a:p>
            <a:r>
              <a:rPr lang="en-US" dirty="0"/>
              <a:t> 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616321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3428-A1AB-4D42-A9E9-3CFA510A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Statistics of the Multiple Factorial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E6F69D-9A2D-4571-8417-7AA4940CF2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000355"/>
              </p:ext>
            </p:extLst>
          </p:nvPr>
        </p:nvGraphicFramePr>
        <p:xfrm>
          <a:off x="1337187" y="1702597"/>
          <a:ext cx="9517625" cy="4788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3871">
                  <a:extLst>
                    <a:ext uri="{9D8B030D-6E8A-4147-A177-3AD203B41FA5}">
                      <a16:colId xmlns:a16="http://schemas.microsoft.com/office/drawing/2014/main" val="4198227603"/>
                    </a:ext>
                  </a:extLst>
                </a:gridCol>
                <a:gridCol w="1183086">
                  <a:extLst>
                    <a:ext uri="{9D8B030D-6E8A-4147-A177-3AD203B41FA5}">
                      <a16:colId xmlns:a16="http://schemas.microsoft.com/office/drawing/2014/main" val="656861634"/>
                    </a:ext>
                  </a:extLst>
                </a:gridCol>
                <a:gridCol w="1286936">
                  <a:extLst>
                    <a:ext uri="{9D8B030D-6E8A-4147-A177-3AD203B41FA5}">
                      <a16:colId xmlns:a16="http://schemas.microsoft.com/office/drawing/2014/main" val="3971045463"/>
                    </a:ext>
                  </a:extLst>
                </a:gridCol>
                <a:gridCol w="1286936">
                  <a:extLst>
                    <a:ext uri="{9D8B030D-6E8A-4147-A177-3AD203B41FA5}">
                      <a16:colId xmlns:a16="http://schemas.microsoft.com/office/drawing/2014/main" val="2386447558"/>
                    </a:ext>
                  </a:extLst>
                </a:gridCol>
                <a:gridCol w="1398932">
                  <a:extLst>
                    <a:ext uri="{9D8B030D-6E8A-4147-A177-3AD203B41FA5}">
                      <a16:colId xmlns:a16="http://schemas.microsoft.com/office/drawing/2014/main" val="180136131"/>
                    </a:ext>
                  </a:extLst>
                </a:gridCol>
                <a:gridCol w="1398932">
                  <a:extLst>
                    <a:ext uri="{9D8B030D-6E8A-4147-A177-3AD203B41FA5}">
                      <a16:colId xmlns:a16="http://schemas.microsoft.com/office/drawing/2014/main" val="2779395983"/>
                    </a:ext>
                  </a:extLst>
                </a:gridCol>
                <a:gridCol w="1398932">
                  <a:extLst>
                    <a:ext uri="{9D8B030D-6E8A-4147-A177-3AD203B41FA5}">
                      <a16:colId xmlns:a16="http://schemas.microsoft.com/office/drawing/2014/main" val="1421545933"/>
                    </a:ext>
                  </a:extLst>
                </a:gridCol>
              </a:tblGrid>
              <a:tr h="3606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MFA variable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Group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Dim.1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Dim.2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Dim.3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Dim.4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Dim.5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04401"/>
                  </a:ext>
                </a:extLst>
              </a:tr>
              <a:tr h="73794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Coordinates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Sampling Conditions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0.8836081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0.2491804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0.2918705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0.25980476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0.2008872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3280281"/>
                  </a:ext>
                </a:extLst>
              </a:tr>
              <a:tr h="7379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OAC Indicators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0.8936717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0.5260442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0.1275075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0.06392842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0.0372208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24192"/>
                  </a:ext>
                </a:extLst>
              </a:tr>
              <a:tr h="73794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Cos2, quality of representation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Sampling Conditions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0.5950918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0.04732518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0.06492996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0.051446847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0.030758768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3238219"/>
                  </a:ext>
                </a:extLst>
              </a:tr>
              <a:tr h="7379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OAC Indicators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0.5844510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0.20250532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0.01189771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0.002990749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0.001013826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9789542"/>
                  </a:ext>
                </a:extLst>
              </a:tr>
              <a:tr h="73794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Contributions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Sampling Conditions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49.71688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32.14299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69.59605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80.25274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84.3681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7869723"/>
                  </a:ext>
                </a:extLst>
              </a:tr>
              <a:tr h="7379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OAC Indicators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50.28312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67.85701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30.40395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19.74726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15.6319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064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206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9356-7B51-40EB-A81E-C9CBCA87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629"/>
            <a:ext cx="10515600" cy="1325563"/>
          </a:xfrm>
        </p:spPr>
        <p:txBody>
          <a:bodyPr/>
          <a:lstStyle/>
          <a:p>
            <a:r>
              <a:rPr lang="en-US" dirty="0"/>
              <a:t>Contribution of variables to MFA dimension definition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AFCF07F9-4B95-439B-B35E-FB95349DC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" y="2303652"/>
            <a:ext cx="6072463" cy="4554348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F8938B45-5C0F-418D-A454-8A68FFD8E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537" y="2303652"/>
            <a:ext cx="6072463" cy="455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10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9196-F739-481A-8D8B-35B526F2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65"/>
            <a:ext cx="10515600" cy="1325563"/>
          </a:xfrm>
        </p:spPr>
        <p:txBody>
          <a:bodyPr/>
          <a:lstStyle/>
          <a:p>
            <a:r>
              <a:rPr lang="en-US" dirty="0"/>
              <a:t>MFA graphs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F049C99-5974-4DD3-B5AA-ED6BF5DC4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81" y="1639888"/>
            <a:ext cx="6172199" cy="4937760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8E5E6B4A-B2B2-49EF-BE78-9E97413304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1237" b="10011"/>
          <a:stretch/>
        </p:blipFill>
        <p:spPr>
          <a:xfrm>
            <a:off x="914400" y="1236656"/>
            <a:ext cx="5053781" cy="561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00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6281-A5A6-4B9D-9D2E-D549A203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456D5CFB-B480-48B4-875B-B943FA1D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779" y="1370834"/>
            <a:ext cx="7316221" cy="5487166"/>
          </a:xfrm>
          <a:prstGeom prst="rect">
            <a:avLst/>
          </a:prstGeom>
        </p:spPr>
      </p:pic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36FE0FE2-E42B-406A-8F6E-DC29DF105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161" y="1973130"/>
            <a:ext cx="6513161" cy="488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69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A1DE7-9881-439A-B67B-16AA020D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Now for something more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AC8F3-4BF2-4E7B-88A8-3F4543EE0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ggplot2_axis-label-tricks_MWalsh.rmd</a:t>
            </a:r>
          </a:p>
        </p:txBody>
      </p:sp>
    </p:spTree>
    <p:extLst>
      <p:ext uri="{BB962C8B-B14F-4D97-AF65-F5344CB8AC3E}">
        <p14:creationId xmlns:p14="http://schemas.microsoft.com/office/powerpoint/2010/main" val="1222489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C9169-EEDF-4B96-87AC-F12ED4A1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494" y="172620"/>
            <a:ext cx="2614864" cy="2402138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 to my team and audience!</a:t>
            </a:r>
          </a:p>
        </p:txBody>
      </p:sp>
      <p:pic>
        <p:nvPicPr>
          <p:cNvPr id="5" name="Content Placeholder 4" descr="A picture containing person, water, sky, outdoor&#10;&#10;Description automatically generated">
            <a:extLst>
              <a:ext uri="{FF2B5EF4-FFF2-40B4-BE49-F238E27FC236}">
                <a16:creationId xmlns:a16="http://schemas.microsoft.com/office/drawing/2014/main" id="{DC459181-6951-471A-AA7D-3BA02EF7C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1" y="0"/>
            <a:ext cx="9144000" cy="6858000"/>
          </a:xfrm>
          <a:ln w="19050">
            <a:solidFill>
              <a:schemeClr val="bg1">
                <a:lumMod val="6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397493-DB5B-4EB3-B837-47D516AF1DE3}"/>
              </a:ext>
            </a:extLst>
          </p:cNvPr>
          <p:cNvSpPr txBox="1"/>
          <p:nvPr/>
        </p:nvSpPr>
        <p:spPr>
          <a:xfrm>
            <a:off x="7808495" y="5835316"/>
            <a:ext cx="202130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Anna </a:t>
            </a:r>
            <a:r>
              <a:rPr lang="en-US" dirty="0" err="1"/>
              <a:t>Jullie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B1BF5-5238-4481-A8E5-8E63C69DC232}"/>
              </a:ext>
            </a:extLst>
          </p:cNvPr>
          <p:cNvSpPr txBox="1"/>
          <p:nvPr/>
        </p:nvSpPr>
        <p:spPr>
          <a:xfrm>
            <a:off x="5121442" y="777860"/>
            <a:ext cx="2133599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Hayden C. Franciscus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78F90-4969-46DF-8227-6FFB3A136C05}"/>
              </a:ext>
            </a:extLst>
          </p:cNvPr>
          <p:cNvSpPr txBox="1"/>
          <p:nvPr/>
        </p:nvSpPr>
        <p:spPr>
          <a:xfrm>
            <a:off x="8554453" y="1147192"/>
            <a:ext cx="2021305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Dana M. Briggs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5CB6FD-D235-4149-AF9D-F446726F906B}"/>
              </a:ext>
            </a:extLst>
          </p:cNvPr>
          <p:cNvSpPr txBox="1"/>
          <p:nvPr/>
        </p:nvSpPr>
        <p:spPr>
          <a:xfrm>
            <a:off x="10170696" y="2029326"/>
            <a:ext cx="175260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Amy K. Henry</a:t>
            </a:r>
          </a:p>
        </p:txBody>
      </p:sp>
    </p:spTree>
    <p:extLst>
      <p:ext uri="{BB962C8B-B14F-4D97-AF65-F5344CB8AC3E}">
        <p14:creationId xmlns:p14="http://schemas.microsoft.com/office/powerpoint/2010/main" val="412520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718</Words>
  <Application>Microsoft Office PowerPoint</Application>
  <PresentationFormat>Widescreen</PresentationFormat>
  <Paragraphs>133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Focal Presentation: Newport Bay Water Quality</vt:lpstr>
      <vt:lpstr>Eelgrass</vt:lpstr>
      <vt:lpstr>Critical Habitat Role</vt:lpstr>
      <vt:lpstr>Light Limited Growth</vt:lpstr>
      <vt:lpstr>PowerPoint Presentation</vt:lpstr>
      <vt:lpstr>PowerPoint Presentation</vt:lpstr>
      <vt:lpstr>PowerPoint Presentation</vt:lpstr>
      <vt:lpstr>PowerPoint Presentation</vt:lpstr>
      <vt:lpstr>Is there an association between light availability and eelgrass bed stability across sample sites?</vt:lpstr>
      <vt:lpstr>PowerPoint Presentation</vt:lpstr>
      <vt:lpstr>What environmental variables are significant predicters of bed stability across within lower Newport Bay?</vt:lpstr>
      <vt:lpstr>PowerPoint Presentation</vt:lpstr>
      <vt:lpstr>Is Chlorophyll-a concentration a significant predictor of light availability?</vt:lpstr>
      <vt:lpstr>PowerPoint Presentation</vt:lpstr>
      <vt:lpstr>MFA() function usage [FactoMineR] type ?FactoMineR::MFA into console for more info </vt:lpstr>
      <vt:lpstr>MFA Design</vt:lpstr>
      <vt:lpstr>Key Statistics of the Multiple Factorial Analysis</vt:lpstr>
      <vt:lpstr>Contribution of variables to MFA dimension definition</vt:lpstr>
      <vt:lpstr>MFA graphs</vt:lpstr>
      <vt:lpstr>PowerPoint Presentation</vt:lpstr>
      <vt:lpstr>And Now for something more useful</vt:lpstr>
      <vt:lpstr>Thank you to my team and audience!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Focal Presentation: Newport Bay Water Quality</dc:title>
  <dc:creator>Matthew Walsh</dc:creator>
  <cp:lastModifiedBy>Matthew Walsh</cp:lastModifiedBy>
  <cp:revision>6</cp:revision>
  <dcterms:created xsi:type="dcterms:W3CDTF">2022-02-28T17:34:26Z</dcterms:created>
  <dcterms:modified xsi:type="dcterms:W3CDTF">2022-03-03T18:16:15Z</dcterms:modified>
</cp:coreProperties>
</file>